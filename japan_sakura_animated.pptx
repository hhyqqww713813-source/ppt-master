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樱花，把日本变成春天。这次旅行邀请我们用五种目的地灵感，认识不同的日本春色：在城市里慢慢走，定格山景，或者把时间交给古都。画面中的花瓣轻轻飘落，也提醒我们，春日的魅力往往藏在不必赶路的时刻。下一次旅程，不妨为这一场花开留出时间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赏樱可以从选择地区开始。东京与大阪通常在三月下旬至四月上旬迎来樱花季，新仓山浅间公园可参考四月中旬，弘前则通常在四月下旬至五月上旬。京都哲学之道也是春日慢行的选择。这些只是一般季节窗口，不是某一年花期的保证；气温、品种和天气都会改变开花进度。画面的先后表达季节灵感，而非一条要求全部走完的交通行程，最终安排应以当年的官方花况为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东京，目黑川把大都市的日常变得柔软。两岸樱树的枝条连成粉色花廊，沿着河边散步，再停在一间咖啡馆，就能感受一种慢下来的城市旅行。千鸟渊提供另一种水岸赏樱选择。东京的一般参考时段是三月下旬到四月上旬，具体出发日期仍需核对当年的花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你更期待一张山景明信片，可以关注山梨县富士吉田市的新仓山浅间公园。富士山、五重塔与樱花能进入同一幅春日景观。当地的一般盛花参考时段是四月中旬。为了遇见理想的远山视野，行程应给天气留一点余地；把拍摄当作期待，不必把某一张照片当成必须兑现的承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京都的哲学之道适合把旅行节奏放慢。沿着运河，在花影下走走，拍照，或安排一段咖啡时光，就能让古都的春天成为真正停留下来的记忆。这一页的旅行提案不是密集打卡，而是给自己留出一段没有催促的散步。具体花况和开放安排，出发前再查一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阪的热闹，也可以有柔和的春意。大阪城公园把城堡的轮廓放在樱花之间，适合安排一次春日漫步。之后再回到城市街区，体验大阪的日常风味，让一日行程既有公园的松弛，也有城市的活力。当地赏樱的一般参考时段是四月初，仍以实时花况为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想晚一些出发，可以把视线移向青森县弘前公园。护城河畔的樱花和水中倒影，为这段春日旅程带来不同的气氛。弘前通常在四月下旬到五月上旬进入赏樱季，这为春季后段的旅行提供了另一种选择。画面是一种旅行邀请，实际花期以及是否有夜间活动，都应在出发前核对官方信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次春天，可以先选一种最吸引你的旅行气质：东京的城市浪漫，富士山周边的山景摄影，京都与大阪的古都与城郭漫游，或弘前的东北花事。出发前做好三件事：选一个主目的地，核对官方花况与开放信息，再提前安排住宿、给天气预留弹性。不必追上每一朵花，找到属于你的春天，就值得出发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pan_sakur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pan_sakur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9f4a0d3188783e.gif"/>
  <Relationship Id="rId3" Type="http://schemas.openxmlformats.org/officeDocument/2006/relationships/image" Target="../media/image_e65fa591e1d0c410.jp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3add6b6e5486f03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800cedf84729b4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3ff95e1dc83060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2012fd9e2958280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cdc96e073f0f2f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9f4a0d3188783e.gif"/>
  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tal-atmosphe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grpSp>
        <p:nvGrpSpPr>
          <p:cNvPr id="4" name="section-kicker"/>
          <p:cNvGrpSpPr/>
          <p:nvPr/>
        </p:nvGrpSpPr>
        <p:grpSpPr>
          <a:xfrm>
            <a:off x="527304" y="838200"/>
            <a:ext cx="2355494" cy="234696"/>
            <a:chOff x="527304" y="838200"/>
            <a:chExt cx="2355494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838200"/>
              <a:ext cx="2355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日本赏樱旅行 / SPRING EDITION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514350" y="1574800"/>
            <a:ext cx="4902708" cy="1981200"/>
            <a:chOff x="514350" y="1574800"/>
            <a:chExt cx="4902708" cy="1981200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1574800"/>
              <a:ext cx="4902708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樱花，把日本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4350" y="2451100"/>
              <a:ext cx="328117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变成春天</a:t>
              </a:r>
            </a:p>
          </p:txBody>
        </p:sp>
      </p:grpSp>
      <p:grpSp>
        <p:nvGrpSpPr>
          <p:cNvPr id="10" name="cover-invitation"/>
          <p:cNvGrpSpPr/>
          <p:nvPr/>
        </p:nvGrpSpPr>
        <p:grpSpPr>
          <a:xfrm>
            <a:off x="524256" y="4041775"/>
            <a:ext cx="3895344" cy="733044"/>
            <a:chOff x="524256" y="4041775"/>
            <a:chExt cx="3895344" cy="733044"/>
          </a:xfrm>
        </p:grpSpPr>
        <p:sp>
          <p:nvSpPr>
            <p:cNvPr id="8" name="TextBox 8"/>
            <p:cNvSpPr txBox="1"/>
            <p:nvPr/>
          </p:nvSpPr>
          <p:spPr>
            <a:xfrm>
              <a:off x="524256" y="4041775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城市漫游 · 山景定格 · 古都慢行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442277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把一段春光，写进你的下一次旅程。</a:t>
              </a:r>
            </a:p>
          </p:txBody>
        </p:sp>
      </p:grpSp>
      <p:grpSp>
        <p:nvGrpSpPr>
          <p:cNvPr id="13" name="cover-tag"/>
          <p:cNvGrpSpPr/>
          <p:nvPr/>
        </p:nvGrpSpPr>
        <p:grpSpPr>
          <a:xfrm>
            <a:off x="525780" y="5419725"/>
            <a:ext cx="2872550" cy="467995"/>
            <a:chOff x="525780" y="5419725"/>
            <a:chExt cx="2872550" cy="467995"/>
          </a:xfrm>
        </p:grpSpPr>
        <p:sp>
          <p:nvSpPr>
            <p:cNvPr id="11" name="Line 11"/>
            <p:cNvSpPr/>
            <p:nvPr/>
          </p:nvSpPr>
          <p:spPr>
            <a:xfrm>
              <a:off x="533400" y="54197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5594350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五种目的地灵感 · 一场春日邀约</a:t>
              </a:r>
            </a:p>
          </p:txBody>
        </p:sp>
      </p:grpSp>
      <p:grpSp>
        <p:nvGrpSpPr>
          <p:cNvPr id="16" name="cover-landscape"/>
          <p:cNvGrpSpPr/>
          <p:nvPr/>
        </p:nvGrpSpPr>
        <p:grpSpPr>
          <a:xfrm>
            <a:off x="5614988" y="609600"/>
            <a:ext cx="6043612" cy="5319712"/>
            <a:chOff x="5614988" y="609600"/>
            <a:chExt cx="6043612" cy="5319712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rcRect l="5142" t="0" r="5141" b="0"/>
            <a:stretch>
              <a:fillRect/>
            </a:stretch>
          </p:blipFill>
          <p:spPr>
            <a:xfrm>
              <a:off x="5619750" y="609600"/>
              <a:ext cx="6038850" cy="50482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5614988" y="5753100"/>
              <a:ext cx="4337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© Olivier Bruchez from Lausanne, Switzerland / Wikimedia / CC BY-SA 2.0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17" name="Line 17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ection-kicker"/>
          <p:cNvGrpSpPr/>
          <p:nvPr/>
        </p:nvGrpSpPr>
        <p:grpSpPr>
          <a:xfrm>
            <a:off x="527304" y="571500"/>
            <a:ext cx="2476195" cy="234696"/>
            <a:chOff x="527304" y="571500"/>
            <a:chExt cx="2476195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571500"/>
              <a:ext cx="2476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FOLLOW THE BLOOM / 花季灵感</a:t>
              </a:r>
            </a:p>
          </p:txBody>
        </p:sp>
      </p:grpSp>
      <p:grpSp>
        <p:nvGrpSpPr>
          <p:cNvPr id="5" name="season-title"/>
          <p:cNvGrpSpPr/>
          <p:nvPr/>
        </p:nvGrpSpPr>
        <p:grpSpPr>
          <a:xfrm>
            <a:off x="515874" y="923925"/>
            <a:ext cx="4942332" cy="674751"/>
            <a:chOff x="515874" y="923925"/>
            <a:chExt cx="4942332" cy="674751"/>
          </a:xfrm>
        </p:grpSpPr>
        <p:sp>
          <p:nvSpPr>
            <p:cNvPr id="4" name="TextBox 4"/>
            <p:cNvSpPr txBox="1"/>
            <p:nvPr/>
          </p:nvSpPr>
          <p:spPr>
            <a:xfrm>
              <a:off x="515874" y="923925"/>
              <a:ext cx="494233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跟着花开，选对目的地</a:t>
              </a:r>
            </a:p>
          </p:txBody>
        </p:sp>
      </p:grpSp>
      <p:grpSp>
        <p:nvGrpSpPr>
          <p:cNvPr id="7" name="season-intro"/>
          <p:cNvGrpSpPr/>
          <p:nvPr/>
        </p:nvGrpSpPr>
        <p:grpSpPr>
          <a:xfrm>
            <a:off x="524256" y="1860550"/>
            <a:ext cx="5591556" cy="352044"/>
            <a:chOff x="524256" y="1860550"/>
            <a:chExt cx="5591556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524256" y="186055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从城市春色到东北花事，让出发时间与目的地相遇。</a:t>
              </a:r>
            </a:p>
          </p:txBody>
        </p:sp>
      </p:grpSp>
      <p:grpSp>
        <p:nvGrpSpPr>
          <p:cNvPr id="9" name="season-link-first"/>
          <p:cNvGrpSpPr/>
          <p:nvPr/>
        </p:nvGrpSpPr>
        <p:grpSpPr>
          <a:xfrm>
            <a:off x="3886200" y="2905125"/>
            <a:ext cx="457200" cy="9525"/>
            <a:chOff x="3886200" y="2905125"/>
            <a:chExt cx="457200" cy="9525"/>
          </a:xfrm>
        </p:grpSpPr>
        <p:sp>
          <p:nvSpPr>
            <p:cNvPr id="8" name="Line 8"/>
            <p:cNvSpPr/>
            <p:nvPr/>
          </p:nvSpPr>
          <p:spPr>
            <a:xfrm>
              <a:off x="3886200" y="290512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1" name="season-link-second"/>
          <p:cNvGrpSpPr/>
          <p:nvPr/>
        </p:nvGrpSpPr>
        <p:grpSpPr>
          <a:xfrm>
            <a:off x="7696200" y="2905125"/>
            <a:ext cx="457200" cy="9525"/>
            <a:chOff x="7696200" y="2905125"/>
            <a:chExt cx="457200" cy="9525"/>
          </a:xfrm>
        </p:grpSpPr>
        <p:sp>
          <p:nvSpPr>
            <p:cNvPr id="10" name="Line 10"/>
            <p:cNvSpPr/>
            <p:nvPr/>
          </p:nvSpPr>
          <p:spPr>
            <a:xfrm>
              <a:off x="7696200" y="290512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8" name="season-stop-01"/>
          <p:cNvGrpSpPr/>
          <p:nvPr/>
        </p:nvGrpSpPr>
        <p:grpSpPr>
          <a:xfrm>
            <a:off x="533400" y="2667000"/>
            <a:ext cx="3352800" cy="2190750"/>
            <a:chOff x="533400" y="2667000"/>
            <a:chExt cx="3352800" cy="2190750"/>
          </a:xfrm>
        </p:grpSpPr>
        <p:sp>
          <p:nvSpPr>
            <p:cNvPr id="12" name="Rectangle 12"/>
            <p:cNvSpPr/>
            <p:nvPr/>
          </p:nvSpPr>
          <p:spPr>
            <a:xfrm>
              <a:off x="533400" y="2667000"/>
              <a:ext cx="3352800" cy="2190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14375" y="2762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766" y="28352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808" y="319722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东京・大阪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3765550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月下旬—4 月上旬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856" y="41941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城市与城郭的春日</a:t>
              </a:r>
            </a:p>
          </p:txBody>
        </p:sp>
      </p:grpSp>
      <p:grpSp>
        <p:nvGrpSpPr>
          <p:cNvPr id="25" name="season-stop-02"/>
          <p:cNvGrpSpPr/>
          <p:nvPr/>
        </p:nvGrpSpPr>
        <p:grpSpPr>
          <a:xfrm>
            <a:off x="4343400" y="2667000"/>
            <a:ext cx="3352800" cy="2190750"/>
            <a:chOff x="4343400" y="2667000"/>
            <a:chExt cx="3352800" cy="2190750"/>
          </a:xfrm>
        </p:grpSpPr>
        <p:sp>
          <p:nvSpPr>
            <p:cNvPr id="19" name="Rectangle 19"/>
            <p:cNvSpPr/>
            <p:nvPr/>
          </p:nvSpPr>
          <p:spPr>
            <a:xfrm>
              <a:off x="4343400" y="2667000"/>
              <a:ext cx="3352800" cy="2190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524375" y="2762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4766" y="28352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59808" y="319722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富士山周边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4380" y="3765550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月中旬参考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2856" y="41941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樱花、五重塔与远山</a:t>
              </a:r>
            </a:p>
          </p:txBody>
        </p:sp>
      </p:grpSp>
      <p:grpSp>
        <p:nvGrpSpPr>
          <p:cNvPr id="32" name="season-stop-03"/>
          <p:cNvGrpSpPr/>
          <p:nvPr/>
        </p:nvGrpSpPr>
        <p:grpSpPr>
          <a:xfrm>
            <a:off x="8153400" y="2667000"/>
            <a:ext cx="3352800" cy="2190750"/>
            <a:chOff x="8153400" y="2667000"/>
            <a:chExt cx="33528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153400" y="2667000"/>
              <a:ext cx="3352800" cy="2190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334375" y="2762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4766" y="28352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69808" y="319722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青森・弘前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4380" y="3765550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月下旬—5 月上旬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2856" y="41941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晚一些，赴北方花事</a:t>
              </a:r>
            </a:p>
          </p:txBody>
        </p:sp>
      </p:grpSp>
      <p:grpSp>
        <p:nvGrpSpPr>
          <p:cNvPr id="35" name="season-caveat"/>
          <p:cNvGrpSpPr/>
          <p:nvPr/>
        </p:nvGrpSpPr>
        <p:grpSpPr>
          <a:xfrm>
            <a:off x="525780" y="5318125"/>
            <a:ext cx="7284720" cy="617220"/>
            <a:chOff x="525780" y="5318125"/>
            <a:chExt cx="7284720" cy="617220"/>
          </a:xfrm>
        </p:grpSpPr>
        <p:sp>
          <p:nvSpPr>
            <p:cNvPr id="33" name="TextBox 33"/>
            <p:cNvSpPr txBox="1"/>
            <p:nvPr/>
          </p:nvSpPr>
          <p:spPr>
            <a:xfrm>
              <a:off x="525780" y="53181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京都哲学之道亦适合春日慢行；具体安排以目的地当年花况为准。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5780" y="564197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以上为一般季节参考，并非某一年度花期预报；气温、品种与天气都会影响花期。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36" name="Line 36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6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ection-kicker"/>
          <p:cNvGrpSpPr/>
          <p:nvPr/>
        </p:nvGrpSpPr>
        <p:grpSpPr>
          <a:xfrm>
            <a:off x="527304" y="571500"/>
            <a:ext cx="933907" cy="234696"/>
            <a:chOff x="527304" y="571500"/>
            <a:chExt cx="933907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571500"/>
              <a:ext cx="933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TOKYO</a:t>
              </a:r>
            </a:p>
          </p:txBody>
        </p:sp>
      </p:grpSp>
      <p:grpSp>
        <p:nvGrpSpPr>
          <p:cNvPr id="5" name="tokyo-title"/>
          <p:cNvGrpSpPr/>
          <p:nvPr/>
        </p:nvGrpSpPr>
        <p:grpSpPr>
          <a:xfrm>
            <a:off x="515874" y="952500"/>
            <a:ext cx="3960876" cy="674751"/>
            <a:chOff x="515874" y="952500"/>
            <a:chExt cx="3960876" cy="674751"/>
          </a:xfrm>
        </p:grpSpPr>
        <p:sp>
          <p:nvSpPr>
            <p:cNvPr id="4" name="TextBox 4"/>
            <p:cNvSpPr txBox="1"/>
            <p:nvPr/>
          </p:nvSpPr>
          <p:spPr>
            <a:xfrm>
              <a:off x="515874" y="952500"/>
              <a:ext cx="396087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把日常，走成浪漫</a:t>
              </a:r>
            </a:p>
          </p:txBody>
        </p:sp>
      </p:grpSp>
      <p:grpSp>
        <p:nvGrpSpPr>
          <p:cNvPr id="8" name="tokyo-river"/>
          <p:cNvGrpSpPr/>
          <p:nvPr/>
        </p:nvGrpSpPr>
        <p:grpSpPr>
          <a:xfrm>
            <a:off x="528638" y="1943100"/>
            <a:ext cx="6805612" cy="4176712"/>
            <a:chOff x="528638" y="1943100"/>
            <a:chExt cx="6805612" cy="4176712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rcRect l="0" t="11718" r="0" b="11718"/>
            <a:stretch>
              <a:fillRect/>
            </a:stretch>
          </p:blipFill>
          <p:spPr>
            <a:xfrm>
              <a:off x="533400" y="1943100"/>
              <a:ext cx="6800850" cy="39052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28638" y="5943600"/>
              <a:ext cx="3602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© Guilhem Vellut from Annecy, France / Wikimedia / CC BY 2.0</a:t>
              </a:r>
            </a:p>
          </p:txBody>
        </p:sp>
      </p:grpSp>
      <p:grpSp>
        <p:nvGrpSpPr>
          <p:cNvPr id="15" name="tokyo-experience"/>
          <p:cNvGrpSpPr/>
          <p:nvPr/>
        </p:nvGrpSpPr>
        <p:grpSpPr>
          <a:xfrm>
            <a:off x="7855458" y="2076450"/>
            <a:ext cx="3656076" cy="2526919"/>
            <a:chOff x="7855458" y="2076450"/>
            <a:chExt cx="3656076" cy="2526919"/>
          </a:xfrm>
        </p:grpSpPr>
        <p:sp>
          <p:nvSpPr>
            <p:cNvPr id="9" name="TextBox 9"/>
            <p:cNvSpPr txBox="1"/>
            <p:nvPr/>
          </p:nvSpPr>
          <p:spPr>
            <a:xfrm>
              <a:off x="7855458" y="2076450"/>
              <a:ext cx="21238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东京 · 目黑川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867650" y="2657475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58506" y="286067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两岸的花枝，把河道连成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58506" y="32226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一条温柔的粉色长廊。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8506" y="388937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沿河散步，停在一间咖啡馆。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58506" y="425132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让繁华城市，也有慢下来的理由。</a:t>
              </a:r>
            </a:p>
          </p:txBody>
        </p:sp>
      </p:grpSp>
      <p:grpSp>
        <p:nvGrpSpPr>
          <p:cNvPr id="18" name="tokyo-alternative"/>
          <p:cNvGrpSpPr/>
          <p:nvPr/>
        </p:nvGrpSpPr>
        <p:grpSpPr>
          <a:xfrm>
            <a:off x="7860030" y="5127625"/>
            <a:ext cx="2690813" cy="655320"/>
            <a:chOff x="7860030" y="5127625"/>
            <a:chExt cx="2690813" cy="655320"/>
          </a:xfrm>
        </p:grpSpPr>
        <p:sp>
          <p:nvSpPr>
            <p:cNvPr id="16" name="TextBox 16"/>
            <p:cNvSpPr txBox="1"/>
            <p:nvPr/>
          </p:nvSpPr>
          <p:spPr>
            <a:xfrm>
              <a:off x="7860030" y="51276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另一种水岸春色：千鸟渊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0030" y="5489575"/>
              <a:ext cx="2690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一般参考：3 月下旬—4 月上旬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19" name="Line 19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ection-kicker"/>
          <p:cNvGrpSpPr/>
          <p:nvPr/>
        </p:nvGrpSpPr>
        <p:grpSpPr>
          <a:xfrm>
            <a:off x="527304" y="704850"/>
            <a:ext cx="1317955" cy="234696"/>
            <a:chOff x="527304" y="704850"/>
            <a:chExt cx="1317955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70485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MOUNT FUJI</a:t>
              </a:r>
            </a:p>
          </p:txBody>
        </p:sp>
      </p:grpSp>
      <p:grpSp>
        <p:nvGrpSpPr>
          <p:cNvPr id="6" name="fuji-title"/>
          <p:cNvGrpSpPr/>
          <p:nvPr/>
        </p:nvGrpSpPr>
        <p:grpSpPr>
          <a:xfrm>
            <a:off x="515874" y="1485900"/>
            <a:ext cx="2488692" cy="1222439"/>
            <a:chOff x="515874" y="1485900"/>
            <a:chExt cx="2488692" cy="1222439"/>
          </a:xfrm>
        </p:grpSpPr>
        <p:sp>
          <p:nvSpPr>
            <p:cNvPr id="4" name="TextBox 4"/>
            <p:cNvSpPr txBox="1"/>
            <p:nvPr/>
          </p:nvSpPr>
          <p:spPr>
            <a:xfrm>
              <a:off x="515874" y="1485900"/>
              <a:ext cx="248869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富士山周边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5874" y="2033588"/>
              <a:ext cx="248869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把春天定格</a:t>
              </a:r>
            </a:p>
          </p:txBody>
        </p:sp>
      </p:grpSp>
      <p:grpSp>
        <p:nvGrpSpPr>
          <p:cNvPr id="9" name="fuji-location"/>
          <p:cNvGrpSpPr/>
          <p:nvPr/>
        </p:nvGrpSpPr>
        <p:grpSpPr>
          <a:xfrm>
            <a:off x="522732" y="3232150"/>
            <a:ext cx="2000250" cy="779145"/>
            <a:chOff x="522732" y="3232150"/>
            <a:chExt cx="2000250" cy="779145"/>
          </a:xfrm>
        </p:grpSpPr>
        <p:sp>
          <p:nvSpPr>
            <p:cNvPr id="7" name="TextBox 7"/>
            <p:cNvSpPr txBox="1"/>
            <p:nvPr/>
          </p:nvSpPr>
          <p:spPr>
            <a:xfrm>
              <a:off x="522732" y="32321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新仓山浅间公园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5780" y="37179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山梨县 · 富士吉田市</a:t>
              </a:r>
            </a:p>
          </p:txBody>
        </p:sp>
      </p:grpSp>
      <p:grpSp>
        <p:nvGrpSpPr>
          <p:cNvPr id="13" name="fuji-experience"/>
          <p:cNvGrpSpPr/>
          <p:nvPr/>
        </p:nvGrpSpPr>
        <p:grpSpPr>
          <a:xfrm>
            <a:off x="524256" y="4489450"/>
            <a:ext cx="3410712" cy="1188720"/>
            <a:chOff x="524256" y="4489450"/>
            <a:chExt cx="3410712" cy="1188720"/>
          </a:xfrm>
        </p:grpSpPr>
        <p:sp>
          <p:nvSpPr>
            <p:cNvPr id="10" name="TextBox 10"/>
            <p:cNvSpPr txBox="1"/>
            <p:nvPr/>
          </p:nvSpPr>
          <p:spPr>
            <a:xfrm>
              <a:off x="524256" y="44894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富士山、五重塔与樱花，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256" y="48514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把日本的春日收入同一个画面。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780" y="5384800"/>
              <a:ext cx="180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一般参考：4 月中旬</a:t>
              </a:r>
            </a:p>
          </p:txBody>
        </p:sp>
      </p:grpSp>
      <p:grpSp>
        <p:nvGrpSpPr>
          <p:cNvPr id="16" name="fuji-landscape"/>
          <p:cNvGrpSpPr/>
          <p:nvPr/>
        </p:nvGrpSpPr>
        <p:grpSpPr>
          <a:xfrm>
            <a:off x="5424488" y="704850"/>
            <a:ext cx="6234112" cy="5348287"/>
            <a:chOff x="5424488" y="704850"/>
            <a:chExt cx="6234112" cy="5348287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rcRect l="3987" t="0" r="3987" b="0"/>
            <a:stretch>
              <a:fillRect/>
            </a:stretch>
          </p:blipFill>
          <p:spPr>
            <a:xfrm>
              <a:off x="5429250" y="704850"/>
              <a:ext cx="6229350" cy="50768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5424488" y="5876925"/>
              <a:ext cx="4337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© Olivier Bruchez from Lausanne, Switzerland / Wikimedia / CC BY-SA 2.0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17" name="Line 17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ection-kicker"/>
          <p:cNvGrpSpPr/>
          <p:nvPr/>
        </p:nvGrpSpPr>
        <p:grpSpPr>
          <a:xfrm>
            <a:off x="527304" y="742950"/>
            <a:ext cx="933907" cy="234696"/>
            <a:chOff x="527304" y="742950"/>
            <a:chExt cx="933907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742950"/>
              <a:ext cx="933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KYOTO</a:t>
              </a:r>
            </a:p>
          </p:txBody>
        </p:sp>
      </p:grpSp>
      <p:grpSp>
        <p:nvGrpSpPr>
          <p:cNvPr id="6" name="kyoto-title"/>
          <p:cNvGrpSpPr/>
          <p:nvPr/>
        </p:nvGrpSpPr>
        <p:grpSpPr>
          <a:xfrm>
            <a:off x="515874" y="1571625"/>
            <a:ext cx="2979420" cy="1222438"/>
            <a:chOff x="515874" y="1571625"/>
            <a:chExt cx="2979420" cy="1222438"/>
          </a:xfrm>
        </p:grpSpPr>
        <p:sp>
          <p:nvSpPr>
            <p:cNvPr id="4" name="TextBox 4"/>
            <p:cNvSpPr txBox="1"/>
            <p:nvPr/>
          </p:nvSpPr>
          <p:spPr>
            <a:xfrm>
              <a:off x="515874" y="1571625"/>
              <a:ext cx="101650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京都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5874" y="2119312"/>
              <a:ext cx="29794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让脚步慢下来</a:t>
              </a:r>
            </a:p>
          </p:txBody>
        </p:sp>
      </p:grpSp>
      <p:grpSp>
        <p:nvGrpSpPr>
          <p:cNvPr id="11" name="kyoto-experience"/>
          <p:cNvGrpSpPr/>
          <p:nvPr/>
        </p:nvGrpSpPr>
        <p:grpSpPr>
          <a:xfrm>
            <a:off x="521208" y="3559175"/>
            <a:ext cx="3413760" cy="1852295"/>
            <a:chOff x="521208" y="3559175"/>
            <a:chExt cx="3413760" cy="1852295"/>
          </a:xfrm>
        </p:grpSpPr>
        <p:sp>
          <p:nvSpPr>
            <p:cNvPr id="7" name="TextBox 7"/>
            <p:cNvSpPr txBox="1"/>
            <p:nvPr/>
          </p:nvSpPr>
          <p:spPr>
            <a:xfrm>
              <a:off x="521208" y="3559175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哲学之道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419417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沿着运河，走进花影里的古都。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45561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不用赶路，也能遇见春天。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780" y="5118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旅行提案：散步 · 摄影 · 咖啡时光</a:t>
              </a:r>
            </a:p>
          </p:txBody>
        </p:sp>
      </p:grpSp>
      <p:grpSp>
        <p:nvGrpSpPr>
          <p:cNvPr id="13" name="kyoto-canal"/>
          <p:cNvGrpSpPr/>
          <p:nvPr/>
        </p:nvGrpSpPr>
        <p:grpSpPr>
          <a:xfrm>
            <a:off x="5543550" y="647700"/>
            <a:ext cx="6115050" cy="5143500"/>
            <a:chOff x="5543550" y="647700"/>
            <a:chExt cx="6115050" cy="51435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rcRect l="10370" t="0" r="10371" b="0"/>
            <a:stretch>
              <a:fillRect/>
            </a:stretch>
          </p:blipFill>
          <p:spPr>
            <a:xfrm>
              <a:off x="5543550" y="647700"/>
              <a:ext cx="6115050" cy="5143500"/>
            </a:xfrm>
            <a:prstGeom prst="rect">
              <a:avLst/>
            </a:prstGeom>
          </p:spPr>
        </p:pic>
      </p:grpSp>
      <p:grpSp>
        <p:nvGrpSpPr>
          <p:cNvPr id="17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14" name="Line 14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ection-kicker"/>
          <p:cNvGrpSpPr/>
          <p:nvPr/>
        </p:nvGrpSpPr>
        <p:grpSpPr>
          <a:xfrm>
            <a:off x="527304" y="571500"/>
            <a:ext cx="899770" cy="234696"/>
            <a:chOff x="527304" y="571500"/>
            <a:chExt cx="899770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571500"/>
              <a:ext cx="899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OSAKA</a:t>
              </a:r>
            </a:p>
          </p:txBody>
        </p:sp>
      </p:grpSp>
      <p:grpSp>
        <p:nvGrpSpPr>
          <p:cNvPr id="5" name="osaka-title"/>
          <p:cNvGrpSpPr/>
          <p:nvPr/>
        </p:nvGrpSpPr>
        <p:grpSpPr>
          <a:xfrm>
            <a:off x="515874" y="952500"/>
            <a:ext cx="3470148" cy="674751"/>
            <a:chOff x="515874" y="952500"/>
            <a:chExt cx="3470148" cy="674751"/>
          </a:xfrm>
        </p:grpSpPr>
        <p:sp>
          <p:nvSpPr>
            <p:cNvPr id="4" name="TextBox 4"/>
            <p:cNvSpPr txBox="1"/>
            <p:nvPr/>
          </p:nvSpPr>
          <p:spPr>
            <a:xfrm>
              <a:off x="515874" y="952500"/>
              <a:ext cx="347014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热闹，也有春意</a:t>
              </a:r>
            </a:p>
          </p:txBody>
        </p:sp>
      </p:grpSp>
      <p:grpSp>
        <p:nvGrpSpPr>
          <p:cNvPr id="8" name="osaka-castle"/>
          <p:cNvGrpSpPr/>
          <p:nvPr/>
        </p:nvGrpSpPr>
        <p:grpSpPr>
          <a:xfrm>
            <a:off x="528638" y="1914525"/>
            <a:ext cx="7053262" cy="4243387"/>
            <a:chOff x="528638" y="1914525"/>
            <a:chExt cx="7053262" cy="4243387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rcRect l="0" t="8162" r="0" b="8161"/>
            <a:stretch>
              <a:fillRect/>
            </a:stretch>
          </p:blipFill>
          <p:spPr>
            <a:xfrm>
              <a:off x="533400" y="1914525"/>
              <a:ext cx="7048500" cy="3971925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28638" y="5981700"/>
              <a:ext cx="21864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© Tom Purves / Wikimedia / CC BY 2.0</a:t>
              </a:r>
            </a:p>
          </p:txBody>
        </p:sp>
      </p:grpSp>
      <p:grpSp>
        <p:nvGrpSpPr>
          <p:cNvPr id="16" name="osaka-experience"/>
          <p:cNvGrpSpPr/>
          <p:nvPr/>
        </p:nvGrpSpPr>
        <p:grpSpPr>
          <a:xfrm>
            <a:off x="8065008" y="2035175"/>
            <a:ext cx="3498342" cy="3452495"/>
            <a:chOff x="8065008" y="2035175"/>
            <a:chExt cx="3498342" cy="3452495"/>
          </a:xfrm>
        </p:grpSpPr>
        <p:sp>
          <p:nvSpPr>
            <p:cNvPr id="9" name="TextBox 9"/>
            <p:cNvSpPr txBox="1"/>
            <p:nvPr/>
          </p:nvSpPr>
          <p:spPr>
            <a:xfrm>
              <a:off x="8065008" y="2035175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大阪城公园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077200" y="2619375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68056" y="28892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城堡的轮廓，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68056" y="325120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藏在层层樱花之间。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68056" y="395605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在公园漫步，感受春日气息；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68056" y="43180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再把一天交给大阪的城市风味。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69580" y="5194300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一般参考：4 月初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17" name="Line 17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rosaki-panora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ight-title-field"/>
          <p:cNvSpPr/>
          <p:nvPr/>
        </p:nvSpPr>
        <p:spPr>
          <a:xfrm>
            <a:off x="0" y="0"/>
            <a:ext cx="12192000" cy="1809750"/>
          </a:xfrm>
          <a:prstGeom prst="rect">
            <a:avLst/>
          </a:prstGeom>
          <a:solidFill>
            <a:srgbClr val="271D2B"/>
          </a:solidFill>
          <a:ln>
            <a:noFill/>
          </a:ln>
        </p:spPr>
      </p:sp>
      <p:grpSp>
        <p:nvGrpSpPr>
          <p:cNvPr id="6" name="hirosaki-title"/>
          <p:cNvGrpSpPr/>
          <p:nvPr/>
        </p:nvGrpSpPr>
        <p:grpSpPr>
          <a:xfrm>
            <a:off x="515874" y="504825"/>
            <a:ext cx="5433060" cy="1036701"/>
            <a:chOff x="515874" y="504825"/>
            <a:chExt cx="5433060" cy="1036701"/>
          </a:xfrm>
        </p:grpSpPr>
        <p:sp>
          <p:nvSpPr>
            <p:cNvPr id="4" name="TextBox 4"/>
            <p:cNvSpPr txBox="1"/>
            <p:nvPr/>
          </p:nvSpPr>
          <p:spPr>
            <a:xfrm>
              <a:off x="527304" y="504825"/>
              <a:ext cx="1915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2C6D5"/>
                  </a:solidFill>
                  <a:latin typeface="+mn-lt"/>
                  <a:ea typeface="+mn-ea"/>
                  <a:cs typeface="+mn-cs"/>
                </a:rPr>
                <a:t>05 / HIROSAKI · AOMORI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5874" y="866775"/>
              <a:ext cx="543306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rgbClr val="FFF9F5"/>
                  </a:solidFill>
                  <a:latin typeface="+mj-lt"/>
                  <a:ea typeface="+mj-ea"/>
                  <a:cs typeface="+mj-cs"/>
                </a:rPr>
                <a:t>弘前，把春天再留一会儿</a:t>
              </a:r>
            </a:p>
          </p:txBody>
        </p:sp>
      </p:grpSp>
      <p:grpSp>
        <p:nvGrpSpPr>
          <p:cNvPr id="9" name="hirosaki-season"/>
          <p:cNvGrpSpPr/>
          <p:nvPr/>
        </p:nvGrpSpPr>
        <p:grpSpPr>
          <a:xfrm>
            <a:off x="533400" y="5276850"/>
            <a:ext cx="9048750" cy="571500"/>
            <a:chOff x="533400" y="5276850"/>
            <a:chExt cx="9048750" cy="571500"/>
          </a:xfrm>
        </p:grpSpPr>
        <p:sp>
          <p:nvSpPr>
            <p:cNvPr id="7" name="Rectangle 7"/>
            <p:cNvSpPr/>
            <p:nvPr/>
          </p:nvSpPr>
          <p:spPr>
            <a:xfrm>
              <a:off x="533400" y="5276850"/>
              <a:ext cx="9048750" cy="571500"/>
            </a:xfrm>
            <a:prstGeom prst="rect">
              <a:avLst/>
            </a:prstGeom>
            <a:solidFill>
              <a:srgbClr val="271D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4756" y="5441950"/>
              <a:ext cx="593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9F5"/>
                  </a:solidFill>
                  <a:latin typeface="+mn-lt"/>
                  <a:ea typeface="+mn-ea"/>
                  <a:cs typeface="+mn-cs"/>
                </a:rPr>
                <a:t>护城河畔的樱花与倒影 / 一般参考：4 月下旬—5 月上旬</a:t>
              </a:r>
            </a:p>
          </p:txBody>
        </p:sp>
      </p:grpSp>
      <p:grpSp>
        <p:nvGrpSpPr>
          <p:cNvPr id="12" name="hirosaki-photo-credit"/>
          <p:cNvGrpSpPr/>
          <p:nvPr/>
        </p:nvGrpSpPr>
        <p:grpSpPr>
          <a:xfrm>
            <a:off x="533400" y="5943600"/>
            <a:ext cx="11125200" cy="257175"/>
            <a:chOff x="533400" y="5943600"/>
            <a:chExt cx="11125200" cy="257175"/>
          </a:xfrm>
        </p:grpSpPr>
        <p:sp>
          <p:nvSpPr>
            <p:cNvPr id="10" name="Rectangle 10"/>
            <p:cNvSpPr/>
            <p:nvPr/>
          </p:nvSpPr>
          <p:spPr>
            <a:xfrm>
              <a:off x="533400" y="5943600"/>
              <a:ext cx="11125200" cy="257175"/>
            </a:xfrm>
            <a:prstGeom prst="rect">
              <a:avLst/>
            </a:prstGeom>
            <a:solidFill>
              <a:srgbClr val="271D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4362" y="6010275"/>
              <a:ext cx="19714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9F5"/>
                  </a:solidFill>
                  <a:latin typeface="+mn-lt"/>
                  <a:ea typeface="+mn-ea"/>
                  <a:cs typeface="+mn-cs"/>
                </a:rPr>
                <a:t>© 掬茶 / Wikimedia / CC BY-SA 4.0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13" name="Line 13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78667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4D7DE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D7DE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-peta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  <p:grpSp>
        <p:nvGrpSpPr>
          <p:cNvPr id="4" name="section-kicker"/>
          <p:cNvGrpSpPr/>
          <p:nvPr/>
        </p:nvGrpSpPr>
        <p:grpSpPr>
          <a:xfrm>
            <a:off x="527304" y="628650"/>
            <a:ext cx="2262835" cy="234696"/>
            <a:chOff x="527304" y="628650"/>
            <a:chExt cx="2262835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628650"/>
              <a:ext cx="2262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NEXT SPRING / 出发提案</a:t>
              </a:r>
            </a:p>
          </p:txBody>
        </p:sp>
      </p:grpSp>
      <p:grpSp>
        <p:nvGrpSpPr>
          <p:cNvPr id="6" name="closing-title"/>
          <p:cNvGrpSpPr/>
          <p:nvPr/>
        </p:nvGrpSpPr>
        <p:grpSpPr>
          <a:xfrm>
            <a:off x="515874" y="1162050"/>
            <a:ext cx="4942332" cy="674751"/>
            <a:chOff x="515874" y="1162050"/>
            <a:chExt cx="4942332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515874" y="1162050"/>
              <a:ext cx="494233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下一次春天，留给日本</a:t>
              </a:r>
            </a:p>
          </p:txBody>
        </p:sp>
      </p:grpSp>
      <p:grpSp>
        <p:nvGrpSpPr>
          <p:cNvPr id="10" name="destination-moods"/>
          <p:cNvGrpSpPr/>
          <p:nvPr/>
        </p:nvGrpSpPr>
        <p:grpSpPr>
          <a:xfrm>
            <a:off x="522732" y="2222500"/>
            <a:ext cx="4284574" cy="1247394"/>
            <a:chOff x="522732" y="2222500"/>
            <a:chExt cx="4284574" cy="1247394"/>
          </a:xfrm>
        </p:grpSpPr>
        <p:sp>
          <p:nvSpPr>
            <p:cNvPr id="7" name="TextBox 7"/>
            <p:cNvSpPr txBox="1"/>
            <p:nvPr/>
          </p:nvSpPr>
          <p:spPr>
            <a:xfrm>
              <a:off x="522732" y="222250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先选一种，属于你的春天。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2755900"/>
              <a:ext cx="42830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城市浪漫 · 东京 山景摄影 · 富士山周边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3117850"/>
              <a:ext cx="42830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古都漫游 · 京都与大阪 东北花事 · 弘前</a:t>
              </a:r>
            </a:p>
          </p:txBody>
        </p:sp>
      </p:grpSp>
      <p:grpSp>
        <p:nvGrpSpPr>
          <p:cNvPr id="15" name="departure-step-01"/>
          <p:cNvGrpSpPr/>
          <p:nvPr/>
        </p:nvGrpSpPr>
        <p:grpSpPr>
          <a:xfrm>
            <a:off x="521208" y="3962400"/>
            <a:ext cx="3364992" cy="1077595"/>
            <a:chOff x="521208" y="3962400"/>
            <a:chExt cx="3364992" cy="1077595"/>
          </a:xfrm>
        </p:grpSpPr>
        <p:sp>
          <p:nvSpPr>
            <p:cNvPr id="11" name="Line 11"/>
            <p:cNvSpPr/>
            <p:nvPr/>
          </p:nvSpPr>
          <p:spPr>
            <a:xfrm>
              <a:off x="533400" y="39624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1208" y="4108450"/>
              <a:ext cx="3998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0333" y="4083050"/>
              <a:ext cx="1048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选区域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780" y="47466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按旅行气质，选一个主目的地</a:t>
              </a:r>
            </a:p>
          </p:txBody>
        </p:sp>
      </p:grpSp>
      <p:grpSp>
        <p:nvGrpSpPr>
          <p:cNvPr id="20" name="departure-step-02"/>
          <p:cNvGrpSpPr/>
          <p:nvPr/>
        </p:nvGrpSpPr>
        <p:grpSpPr>
          <a:xfrm>
            <a:off x="4331208" y="3962400"/>
            <a:ext cx="3364992" cy="1077595"/>
            <a:chOff x="4331208" y="3962400"/>
            <a:chExt cx="3364992" cy="1077595"/>
          </a:xfrm>
        </p:grpSpPr>
        <p:sp>
          <p:nvSpPr>
            <p:cNvPr id="16" name="Line 16"/>
            <p:cNvSpPr/>
            <p:nvPr/>
          </p:nvSpPr>
          <p:spPr>
            <a:xfrm>
              <a:off x="4343400" y="39624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1208" y="4108450"/>
              <a:ext cx="3998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50333" y="4083050"/>
              <a:ext cx="1048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查花况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35780" y="47466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核对官方花况与开放信息</a:t>
              </a:r>
            </a:p>
          </p:txBody>
        </p:sp>
      </p:grpSp>
      <p:grpSp>
        <p:nvGrpSpPr>
          <p:cNvPr id="25" name="departure-step-03"/>
          <p:cNvGrpSpPr/>
          <p:nvPr/>
        </p:nvGrpSpPr>
        <p:grpSpPr>
          <a:xfrm>
            <a:off x="8141208" y="3962400"/>
            <a:ext cx="3364992" cy="1077595"/>
            <a:chOff x="8141208" y="3962400"/>
            <a:chExt cx="3364992" cy="1077595"/>
          </a:xfrm>
        </p:grpSpPr>
        <p:sp>
          <p:nvSpPr>
            <p:cNvPr id="21" name="Line 21"/>
            <p:cNvSpPr/>
            <p:nvPr/>
          </p:nvSpPr>
          <p:spPr>
            <a:xfrm>
              <a:off x="8153400" y="39624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41208" y="4108450"/>
              <a:ext cx="3998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60333" y="4083050"/>
              <a:ext cx="10485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留弹性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5780" y="47466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提前安排住宿，预留天气余地</a:t>
              </a:r>
            </a:p>
          </p:txBody>
        </p:sp>
      </p:grpSp>
      <p:grpSp>
        <p:nvGrpSpPr>
          <p:cNvPr id="27" name="closing-invitation"/>
          <p:cNvGrpSpPr/>
          <p:nvPr/>
        </p:nvGrpSpPr>
        <p:grpSpPr>
          <a:xfrm>
            <a:off x="522732" y="5689600"/>
            <a:ext cx="6240780" cy="410718"/>
            <a:chOff x="522732" y="5689600"/>
            <a:chExt cx="6240780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522732" y="568960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不必追上每一朵花。找到你的春天，就值得出发。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066" y="6353175"/>
            <a:ext cx="11130534" cy="316484"/>
            <a:chOff x="528066" y="6353175"/>
            <a:chExt cx="11130534" cy="316484"/>
          </a:xfrm>
        </p:grpSpPr>
        <p:sp>
          <p:nvSpPr>
            <p:cNvPr id="28" name="Line 28"/>
            <p:cNvSpPr/>
            <p:nvPr/>
          </p:nvSpPr>
          <p:spPr>
            <a:xfrm>
              <a:off x="533400" y="6353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066" y="6464300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 / SAKURA JOURNEY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38916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japan_sakura">
  <a:themeElements>
    <a:clrScheme name="japan_sakura">
      <a:dk1>
        <a:srgbClr val="352C32"/>
      </a:dk1>
      <a:lt1>
        <a:srgbClr val="FFF9F5"/>
      </a:lt1>
      <a:dk2>
        <a:srgbClr val="1F497D"/>
      </a:dk2>
      <a:lt2>
        <a:srgbClr val="F7E8E9"/>
      </a:lt2>
      <a:accent1>
        <a:srgbClr val="63344B"/>
      </a:accent1>
      <a:accent2>
        <a:srgbClr val="B83C68"/>
      </a:accent2>
      <a:accent3>
        <a:srgbClr val="567B72"/>
      </a:accent3>
      <a:accent4>
        <a:srgbClr val="63344B"/>
      </a:accent4>
      <a:accent5>
        <a:srgbClr val="715E68"/>
      </a:accent5>
      <a:accent6>
        <a:srgbClr val="DECFD4"/>
      </a:accent6>
      <a:hlink>
        <a:srgbClr val="B83C68"/>
      </a:hlink>
      <a:folHlink>
        <a:srgbClr val="567B72"/>
      </a:folHlink>
    </a:clrScheme>
    <a:fontScheme name="japan_sakura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pan_sak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apan_sakura">
  <a:themeElements>
    <a:clrScheme name="japan_sakura">
      <a:dk1>
        <a:srgbClr val="352C32"/>
      </a:dk1>
      <a:lt1>
        <a:srgbClr val="FFF9F5"/>
      </a:lt1>
      <a:dk2>
        <a:srgbClr val="1F497D"/>
      </a:dk2>
      <a:lt2>
        <a:srgbClr val="F7E8E9"/>
      </a:lt2>
      <a:accent1>
        <a:srgbClr val="63344B"/>
      </a:accent1>
      <a:accent2>
        <a:srgbClr val="B83C68"/>
      </a:accent2>
      <a:accent3>
        <a:srgbClr val="567B72"/>
      </a:accent3>
      <a:accent4>
        <a:srgbClr val="63344B"/>
      </a:accent4>
      <a:accent5>
        <a:srgbClr val="715E68"/>
      </a:accent5>
      <a:accent6>
        <a:srgbClr val="DECFD4"/>
      </a:accent6>
      <a:hlink>
        <a:srgbClr val="B83C68"/>
      </a:hlink>
      <a:folHlink>
        <a:srgbClr val="567B72"/>
      </a:folHlink>
    </a:clrScheme>
    <a:fontScheme name="japan_sakura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pan_sak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2026-10-19T05:08:34Z</dcterms:created>
  <dcterms:modified xsi:type="dcterms:W3CDTF">2026-10-19T05:08:34Z</dcterms:modified>
  <cp:category/>
  <cp:contentStatus/>
</cp:coreProperties>
</file>